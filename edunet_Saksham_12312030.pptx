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5" r:id="rId19"/>
    <p:sldId id="270" r:id="rId20"/>
    <p:sldId id="27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89" autoAdjust="0"/>
    <p:restoredTop sz="94660"/>
  </p:normalViewPr>
  <p:slideViewPr>
    <p:cSldViewPr snapToGrid="0">
      <p:cViewPr varScale="1">
        <p:scale>
          <a:sx n="70" d="100"/>
          <a:sy n="70" d="100"/>
        </p:scale>
        <p:origin x="452" y="5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5ED3AE-AF1A-668A-8305-833D363D15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B7B8C47-FAEE-2283-5B4A-A72DB4A863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FD5D13-4275-4F26-ABD3-4CC92098B6D8}" type="datetimeFigureOut">
              <a:rPr lang="en-US" smtClean="0"/>
              <a:t>7/13/2026</a:t>
            </a:fld>
            <a:endParaRPr lang="en-US"/>
          </a:p>
        </p:txBody>
      </p:sp>
      <p:sp>
        <p:nvSpPr>
          <p:cNvPr id="4" name="Footer Placeholder 3">
            <a:extLst>
              <a:ext uri="{FF2B5EF4-FFF2-40B4-BE49-F238E27FC236}">
                <a16:creationId xmlns:a16="http://schemas.microsoft.com/office/drawing/2014/main" id="{07540B6A-63F7-28E7-9CD9-62A96AD0D7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EC0308B-297F-B6D7-0A32-8B327CCB48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EE3FB-55FA-4141-9ABA-A5E50B0C6AC8}" type="slidenum">
              <a:rPr lang="en-US" smtClean="0"/>
              <a:t>‹#›</a:t>
            </a:fld>
            <a:endParaRPr lang="en-US"/>
          </a:p>
        </p:txBody>
      </p:sp>
    </p:spTree>
    <p:extLst>
      <p:ext uri="{BB962C8B-B14F-4D97-AF65-F5344CB8AC3E}">
        <p14:creationId xmlns:p14="http://schemas.microsoft.com/office/powerpoint/2010/main" val="17537523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lt2" tx2="dk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585633741"/>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Saksham Gupta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sakshamgupta12312030@gmail.com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9389770509</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61478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US" sz="2400" dirty="0"/>
              <a:t>Healthcare – Mental Health &amp; Suicide Prevention</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dirty="0" err="1"/>
              <a:t>MindGuard</a:t>
            </a:r>
            <a:r>
              <a:rPr lang="en-US" sz="2400" b="1" dirty="0"/>
              <a:t> AI – Agentic AI for Mental Health Awareness &amp; Suicide Prevention</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23017FDF-E688-07C1-7721-31185C7CC73D}"/>
              </a:ext>
            </a:extLst>
          </p:cNvPr>
          <p:cNvPicPr>
            <a:picLocks noChangeAspect="1"/>
          </p:cNvPicPr>
          <p:nvPr/>
        </p:nvPicPr>
        <p:blipFill>
          <a:blip r:embed="rId3"/>
          <a:stretch>
            <a:fillRect/>
          </a:stretch>
        </p:blipFill>
        <p:spPr>
          <a:xfrm>
            <a:off x="4170332" y="3680976"/>
            <a:ext cx="703420" cy="10600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6217046"/>
          </a:xfrm>
          <a:prstGeom prst="rect">
            <a:avLst/>
          </a:prstGeom>
          <a:noFill/>
          <a:ln>
            <a:noFill/>
          </a:ln>
        </p:spPr>
        <p:txBody>
          <a:bodyPr spcFirstLastPara="1" wrap="square" lIns="91425" tIns="45700" rIns="91425" bIns="45700" anchor="t" anchorCtr="0">
            <a:spAutoFit/>
          </a:bodyPr>
          <a:lstStyle/>
          <a:p>
            <a:pPr lvl="0"/>
            <a:endParaRPr lang="en-US" sz="1400" b="1" i="0" u="none" strike="noStrike" cap="none" dirty="0">
              <a:solidFill>
                <a:srgbClr val="000000"/>
              </a:solidFill>
              <a:latin typeface="Arial"/>
              <a:ea typeface="Arial"/>
              <a:cs typeface="Arial"/>
              <a:sym typeface="Arial"/>
            </a:endParaRPr>
          </a:p>
          <a:p>
            <a:pPr lvl="0"/>
            <a:r>
              <a:rPr lang="en-US" sz="2000" b="1" i="0" u="none" strike="noStrike" cap="none" dirty="0">
                <a:solidFill>
                  <a:srgbClr val="000000"/>
                </a:solidFill>
                <a:latin typeface="Arial"/>
                <a:ea typeface="Arial"/>
                <a:cs typeface="Arial"/>
                <a:sym typeface="Arial"/>
              </a:rPr>
              <a:t>Problem Statement : </a:t>
            </a:r>
            <a:r>
              <a:rPr lang="en-US" sz="2000" b="1" dirty="0"/>
              <a:t>Agentic AI for Mental Health Awareness &amp; Suicide Prevention</a:t>
            </a:r>
            <a:endParaRPr sz="2000" b="1"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r>
              <a:rPr lang="en-US" dirty="0"/>
              <a:t>Mental health issues such as </a:t>
            </a:r>
            <a:r>
              <a:rPr lang="en-US" b="1" dirty="0"/>
              <a:t>stress, anxiety, depression, loneliness, and suicidal thoughts</a:t>
            </a:r>
            <a:r>
              <a:rPr lang="en-US" dirty="0"/>
              <a:t> are increasing worldwide. Many people hesitate to seek professional help due to stigma, lack of awareness, limited access to mental health resources, and delayed intervention. Existing solutions are often reactive and fail to provide </a:t>
            </a:r>
            <a:r>
              <a:rPr lang="en-US" b="1" dirty="0"/>
              <a:t>continuous emotional support, early risk detection, personalized self-care guidance, and secure journaling</a:t>
            </a:r>
            <a:r>
              <a:rPr lang="en-US" dirty="0"/>
              <a:t>.</a:t>
            </a:r>
          </a:p>
          <a:p>
            <a:pPr lvl="0"/>
            <a:endParaRPr sz="1400" b="0" i="0" u="none" strike="noStrike" cap="none" dirty="0">
              <a:solidFill>
                <a:srgbClr val="000000"/>
              </a:solidFill>
              <a:latin typeface="Arial"/>
              <a:ea typeface="Arial"/>
              <a:cs typeface="Arial"/>
              <a:sym typeface="Arial"/>
            </a:endParaRPr>
          </a:p>
          <a:p>
            <a:r>
              <a:rPr lang="en-US" b="1" dirty="0"/>
              <a:t>The Objective</a:t>
            </a:r>
          </a:p>
          <a:p>
            <a:r>
              <a:rPr lang="en-US" dirty="0"/>
              <a:t>Build an </a:t>
            </a:r>
            <a:r>
              <a:rPr lang="en-US" b="1" dirty="0"/>
              <a:t>AI-powered Agentic Mental Health Assistant (</a:t>
            </a:r>
            <a:r>
              <a:rPr lang="en-US" b="1" dirty="0" err="1"/>
              <a:t>MindGuard</a:t>
            </a:r>
            <a:r>
              <a:rPr lang="en-US" b="1" dirty="0"/>
              <a:t> AI)</a:t>
            </a:r>
            <a:r>
              <a:rPr lang="en-US" dirty="0"/>
              <a:t> that provides </a:t>
            </a:r>
            <a:r>
              <a:rPr lang="en-US" b="1" dirty="0"/>
              <a:t>empathetic conversations, emotional wellness support, early distress detection, and personalized self-care guidance</a:t>
            </a:r>
            <a:r>
              <a:rPr lang="en-US" dirty="0"/>
              <a:t> for users. The solution should include:</a:t>
            </a:r>
          </a:p>
          <a:p>
            <a:endParaRPr lang="en-US" dirty="0"/>
          </a:p>
          <a:p>
            <a:pPr marL="285750" indent="-285750">
              <a:buFont typeface="Arial" panose="020B0604020202020204" pitchFamily="34" charset="0"/>
              <a:buChar char="•"/>
            </a:pPr>
            <a:r>
              <a:rPr lang="en-US" b="1" dirty="0"/>
              <a:t>AI Mental Health Chatbot</a:t>
            </a:r>
            <a:r>
              <a:rPr lang="en-US" dirty="0"/>
              <a:t> – Provide empathetic conversations using IBM watsonx.ai while maintaining user safety.</a:t>
            </a:r>
          </a:p>
          <a:p>
            <a:pPr marL="285750" indent="-285750">
              <a:buFont typeface="Arial" panose="020B0604020202020204" pitchFamily="34" charset="0"/>
              <a:buChar char="•"/>
            </a:pPr>
            <a:r>
              <a:rPr lang="en-US" b="1" dirty="0"/>
              <a:t>Mood Tracking &amp; Analytics</a:t>
            </a:r>
            <a:r>
              <a:rPr lang="en-US" dirty="0"/>
              <a:t> – Allow users to record daily moods and visualize emotional trends over time.</a:t>
            </a:r>
          </a:p>
          <a:p>
            <a:pPr marL="285750" indent="-285750">
              <a:buFont typeface="Arial" panose="020B0604020202020204" pitchFamily="34" charset="0"/>
              <a:buChar char="•"/>
            </a:pPr>
            <a:r>
              <a:rPr lang="en-US" b="1" dirty="0"/>
              <a:t>Personal Journal</a:t>
            </a:r>
            <a:r>
              <a:rPr lang="en-US" dirty="0"/>
              <a:t> – Enable secure journaling with </a:t>
            </a:r>
            <a:r>
              <a:rPr lang="en-US" dirty="0" err="1"/>
              <a:t>Cloudant</a:t>
            </a:r>
            <a:r>
              <a:rPr lang="en-US" dirty="0"/>
              <a:t> storage for emotional reflection and progress tracking.</a:t>
            </a:r>
          </a:p>
          <a:p>
            <a:pPr marL="285750" indent="-285750">
              <a:buFont typeface="Arial" panose="020B0604020202020204" pitchFamily="34" charset="0"/>
              <a:buChar char="•"/>
            </a:pPr>
            <a:r>
              <a:rPr lang="en-US" b="1" dirty="0"/>
              <a:t>Self-Care Exercises</a:t>
            </a:r>
            <a:r>
              <a:rPr lang="en-US" dirty="0"/>
              <a:t> – Recommend breathing exercises, meditation, stretching, gratitude practice, and mindfulness sessions.</a:t>
            </a:r>
          </a:p>
          <a:p>
            <a:pPr marL="285750" indent="-285750">
              <a:buFont typeface="Arial" panose="020B0604020202020204" pitchFamily="34" charset="0"/>
              <a:buChar char="•"/>
            </a:pPr>
            <a:r>
              <a:rPr lang="en-US" b="1" dirty="0"/>
              <a:t>Mental Health Resource Center (RAG)</a:t>
            </a:r>
            <a:r>
              <a:rPr lang="en-US" dirty="0"/>
              <a:t> – Retrieve trusted mental health information and wellness guidance using Retrieval-Augmented Generation. </a:t>
            </a:r>
          </a:p>
          <a:p>
            <a:pPr marL="285750" indent="-285750">
              <a:buFont typeface="Arial" panose="020B0604020202020204" pitchFamily="34" charset="0"/>
              <a:buChar char="•"/>
            </a:pPr>
            <a:r>
              <a:rPr lang="en-US" dirty="0"/>
              <a:t> </a:t>
            </a:r>
            <a:r>
              <a:rPr lang="en-US" b="1" dirty="0"/>
              <a:t>Emergency SOS Support</a:t>
            </a:r>
            <a:r>
              <a:rPr lang="en-US" dirty="0"/>
              <a:t> – Provide immediate access to emergency contacts, crisis helplines, and safety guidance during high-risk situations.</a:t>
            </a:r>
          </a:p>
          <a:p>
            <a:pPr marL="285750" indent="-285750">
              <a:buFont typeface="Arial" panose="020B0604020202020204" pitchFamily="34" charset="0"/>
              <a:buChar char="•"/>
            </a:pPr>
            <a:r>
              <a:rPr lang="en-US" dirty="0"/>
              <a:t> </a:t>
            </a:r>
            <a:r>
              <a:rPr lang="en-US" b="1" dirty="0"/>
              <a:t>Safety Classification Agent</a:t>
            </a:r>
            <a:r>
              <a:rPr lang="en-US" dirty="0"/>
              <a:t> – Detect potentially harmful or suicidal conversations and provide safe, responsible responses with escalation guidance. </a:t>
            </a:r>
          </a:p>
          <a:p>
            <a:pPr marL="285750" indent="-285750">
              <a:buFont typeface="Arial" panose="020B0604020202020204" pitchFamily="34" charset="0"/>
              <a:buChar char="•"/>
            </a:pPr>
            <a:r>
              <a:rPr lang="en-US" b="1" dirty="0"/>
              <a:t>Visualization Dashboard</a:t>
            </a:r>
            <a:r>
              <a:rPr lang="en-US" dirty="0"/>
              <a:t> – Display mood history, journaling activity, wellness progress, and self-care engagement through interactive analytics.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72775"/>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4783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lvl="0"/>
            <a:r>
              <a:rPr lang="en-US" sz="1400" b="1" i="0" u="none" strike="noStrike" cap="none" dirty="0">
                <a:solidFill>
                  <a:srgbClr val="000000"/>
                </a:solidFill>
                <a:latin typeface="Arial"/>
                <a:ea typeface="Arial"/>
                <a:cs typeface="Arial"/>
                <a:sym typeface="Arial"/>
              </a:rPr>
              <a:t>Proposed Solution</a:t>
            </a:r>
            <a:r>
              <a:rPr lang="en-US" b="1" dirty="0"/>
              <a:t>: </a:t>
            </a:r>
            <a:r>
              <a:rPr lang="en-US" b="1" dirty="0" err="1"/>
              <a:t>MindGuard</a:t>
            </a:r>
            <a:r>
              <a:rPr lang="en-US" b="1" dirty="0"/>
              <a:t> AI – Agentic Mental Health Assistant</a:t>
            </a:r>
          </a:p>
          <a:p>
            <a:pPr lvl="0"/>
            <a:endParaRPr lang="en-US" b="1" dirty="0"/>
          </a:p>
          <a:p>
            <a:pPr lvl="0"/>
            <a:r>
              <a:rPr lang="en-US" dirty="0" err="1"/>
              <a:t>MindGuard</a:t>
            </a:r>
            <a:r>
              <a:rPr lang="en-US" dirty="0"/>
              <a:t> AI is an </a:t>
            </a:r>
            <a:r>
              <a:rPr lang="en-US" b="1" dirty="0"/>
              <a:t>AI-powered mental health assistant</a:t>
            </a:r>
            <a:r>
              <a:rPr lang="en-US" dirty="0"/>
              <a:t> built using </a:t>
            </a:r>
            <a:r>
              <a:rPr lang="en-US" b="1" dirty="0"/>
              <a:t>IBM watsonx.ai, IBM Granite Models, IBM </a:t>
            </a:r>
            <a:r>
              <a:rPr lang="en-US" b="1" dirty="0" err="1"/>
              <a:t>Cloudant</a:t>
            </a:r>
            <a:r>
              <a:rPr lang="en-US" b="1" dirty="0"/>
              <a:t>, RAG, React, and Node.js</a:t>
            </a:r>
            <a:r>
              <a:rPr lang="en-US" dirty="0"/>
              <a:t>. It provides </a:t>
            </a:r>
            <a:r>
              <a:rPr lang="en-US" b="1" dirty="0"/>
              <a:t>empathetic conversations, mood tracking, secure journaling, personalized self-care guidance, and emergency support</a:t>
            </a:r>
            <a:r>
              <a:rPr lang="en-US" dirty="0"/>
              <a:t>.</a:t>
            </a:r>
          </a:p>
          <a:p>
            <a:pPr lvl="0"/>
            <a:r>
              <a:rPr lang="en-US" dirty="0"/>
              <a:t>At its core, the solution uses a </a:t>
            </a:r>
            <a:r>
              <a:rPr lang="en-US" b="1" dirty="0"/>
              <a:t>Retrieval-Augmented Generation (RAG)</a:t>
            </a:r>
            <a:r>
              <a:rPr lang="en-US" dirty="0"/>
              <a:t> pipeline to retrieve trusted mental health resources and generate </a:t>
            </a:r>
            <a:r>
              <a:rPr lang="en-US" b="1" dirty="0"/>
              <a:t>safe, context-aware, and empathetic responses</a:t>
            </a:r>
            <a:r>
              <a:rPr lang="en-US" dirty="0"/>
              <a:t> using IBM Granite models.</a:t>
            </a:r>
          </a:p>
          <a:p>
            <a:pPr lvl="0"/>
            <a:r>
              <a:rPr lang="en-US" dirty="0"/>
              <a:t>The system consists of the following key modules:</a:t>
            </a:r>
          </a:p>
          <a:p>
            <a:pPr lvl="0"/>
            <a:endParaRPr lang="en-US" dirty="0"/>
          </a:p>
          <a:p>
            <a:r>
              <a:rPr lang="en-US" b="1" dirty="0"/>
              <a:t>AI Mental Health Chatbot</a:t>
            </a:r>
            <a:r>
              <a:rPr lang="en-US" dirty="0"/>
              <a:t> – Provides empathetic conversations and emotional support.</a:t>
            </a:r>
          </a:p>
          <a:p>
            <a:r>
              <a:rPr lang="en-US" b="1" dirty="0"/>
              <a:t>Mental Health RAG Agent</a:t>
            </a:r>
            <a:r>
              <a:rPr lang="en-US" dirty="0"/>
              <a:t> – Retrieves trusted mental health knowledge and coping strategies.</a:t>
            </a:r>
          </a:p>
          <a:p>
            <a:r>
              <a:rPr lang="en-US" b="1" dirty="0"/>
              <a:t>Mood Tracking Agent</a:t>
            </a:r>
            <a:r>
              <a:rPr lang="en-US" dirty="0"/>
              <a:t> – Records moods and visualizes emotional trends.</a:t>
            </a:r>
          </a:p>
          <a:p>
            <a:r>
              <a:rPr lang="en-US" b="1" dirty="0"/>
              <a:t>Personal Journal Agent</a:t>
            </a:r>
            <a:r>
              <a:rPr lang="en-US" dirty="0"/>
              <a:t> – Stores journals securely using IBM </a:t>
            </a:r>
            <a:r>
              <a:rPr lang="en-US" dirty="0" err="1"/>
              <a:t>Cloudant</a:t>
            </a:r>
            <a:r>
              <a:rPr lang="en-US" dirty="0"/>
              <a:t>.</a:t>
            </a:r>
          </a:p>
          <a:p>
            <a:r>
              <a:rPr lang="en-US" b="1" dirty="0"/>
              <a:t>Self-Care Agent</a:t>
            </a:r>
            <a:r>
              <a:rPr lang="en-US" dirty="0"/>
              <a:t> – Recommends breathing, meditation, mindfulness, and wellness exercises.</a:t>
            </a:r>
          </a:p>
          <a:p>
            <a:r>
              <a:rPr lang="en-US" b="1" dirty="0"/>
              <a:t>Safety Classification Agent</a:t>
            </a:r>
            <a:r>
              <a:rPr lang="en-US" dirty="0"/>
              <a:t> – Detects high-risk conversations and generates responsible responses.</a:t>
            </a:r>
          </a:p>
          <a:p>
            <a:r>
              <a:rPr lang="en-US" b="1" dirty="0"/>
              <a:t>Emergency SOS Agent</a:t>
            </a:r>
            <a:r>
              <a:rPr lang="en-US" dirty="0"/>
              <a:t> – Provides quick access to crisis helplines and emergency contacts.</a:t>
            </a:r>
          </a:p>
          <a:p>
            <a:endParaRPr lang="en-US" dirty="0"/>
          </a:p>
          <a:p>
            <a:r>
              <a:rPr lang="en-US" dirty="0"/>
              <a:t>The solution includes a </a:t>
            </a:r>
            <a:r>
              <a:rPr lang="en-US" b="1" dirty="0"/>
              <a:t>user-friendly dashboard</a:t>
            </a:r>
            <a:r>
              <a:rPr lang="en-US" dirty="0"/>
              <a:t> that visualizes mood history, journaling activity, and overall wellness progress.</a:t>
            </a:r>
          </a:p>
          <a:p>
            <a:r>
              <a:rPr lang="en-US" b="1" dirty="0"/>
              <a:t>IBM watsonx.ai</a:t>
            </a:r>
            <a:r>
              <a:rPr lang="en-US" dirty="0"/>
              <a:t> powers conversational intelligence, </a:t>
            </a:r>
            <a:r>
              <a:rPr lang="en-US" b="1" dirty="0"/>
              <a:t>IBM Granite Models</a:t>
            </a:r>
            <a:r>
              <a:rPr lang="en-US" dirty="0"/>
              <a:t> handle reasoning, </a:t>
            </a:r>
            <a:r>
              <a:rPr lang="en-US" b="1" dirty="0"/>
              <a:t>IBM </a:t>
            </a:r>
            <a:r>
              <a:rPr lang="en-US" b="1" dirty="0" err="1"/>
              <a:t>Cloudant</a:t>
            </a:r>
            <a:r>
              <a:rPr lang="en-US" dirty="0"/>
              <a:t> stores user data securely, and </a:t>
            </a:r>
            <a:r>
              <a:rPr lang="en-US" b="1" dirty="0"/>
              <a:t>RAG</a:t>
            </a:r>
            <a:r>
              <a:rPr lang="en-US" dirty="0"/>
              <a:t> enhances responses with trusted mental health knowledge.</a:t>
            </a:r>
          </a:p>
          <a:p>
            <a:r>
              <a:rPr lang="en-US" dirty="0"/>
              <a:t>Overall, this solution delivers an </a:t>
            </a:r>
            <a:r>
              <a:rPr lang="en-US" b="1" dirty="0"/>
              <a:t>intelligent, secure, and privacy-focused mental health assistant</a:t>
            </a:r>
            <a:r>
              <a:rPr lang="en-US" dirty="0"/>
              <a:t> that promotes </a:t>
            </a:r>
            <a:r>
              <a:rPr lang="en-US" b="1" dirty="0"/>
              <a:t>mental health awareness, early risk detection, emotional well-being, and timely support</a:t>
            </a:r>
            <a:r>
              <a:rPr lang="en-US" dirty="0"/>
              <a: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232161"/>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a:buChar char="•"/>
            </a:pPr>
            <a:r>
              <a:rPr lang="en-US" sz="1800" b="1" dirty="0"/>
              <a:t>IBM Granite Model</a:t>
            </a:r>
            <a:r>
              <a:rPr lang="en-US" sz="1800" dirty="0"/>
              <a:t> – Used for natural language understanding, empathetic conversations, reasoning, and response generation.</a:t>
            </a:r>
          </a:p>
          <a:p>
            <a:pPr marL="285750" lvl="0" indent="-285750">
              <a:buSzPts val="1800"/>
              <a:buFont typeface="Arial"/>
              <a:buChar char="•"/>
            </a:pPr>
            <a:endParaRPr lang="en-US" sz="1800" dirty="0"/>
          </a:p>
          <a:p>
            <a:pPr marL="285750" lvl="0" indent="-285750">
              <a:buSzPts val="1800"/>
              <a:buFont typeface="Arial"/>
              <a:buChar char="•"/>
            </a:pPr>
            <a:r>
              <a:rPr lang="en-US" sz="1800" dirty="0"/>
              <a:t> </a:t>
            </a:r>
            <a:r>
              <a:rPr lang="en-US" sz="1800" b="1" dirty="0"/>
              <a:t>IBM watsonx.ai</a:t>
            </a:r>
            <a:r>
              <a:rPr lang="en-US" sz="1800" dirty="0"/>
              <a:t> – Powers AI model inference, prompt execution, and conversational intelligence.</a:t>
            </a:r>
          </a:p>
          <a:p>
            <a:pPr marL="285750" lvl="0" indent="-285750">
              <a:buSzPts val="1800"/>
              <a:buFont typeface="Arial"/>
              <a:buChar char="•"/>
            </a:pPr>
            <a:endParaRPr lang="en-US" sz="1800" dirty="0"/>
          </a:p>
          <a:p>
            <a:pPr marL="285750" lvl="0" indent="-285750">
              <a:buSzPts val="1800"/>
              <a:buFont typeface="Arial"/>
              <a:buChar char="•"/>
            </a:pPr>
            <a:r>
              <a:rPr lang="en-US" sz="1800" dirty="0"/>
              <a:t> </a:t>
            </a:r>
            <a:r>
              <a:rPr lang="en-US" sz="1800" b="1" dirty="0"/>
              <a:t>IBM Cloud</a:t>
            </a:r>
            <a:r>
              <a:rPr lang="en-US" sz="1800" dirty="0"/>
              <a:t> – Provides a secure and scalable cloud environment for deploying the application and AI services. </a:t>
            </a:r>
          </a:p>
          <a:p>
            <a:pPr marL="285750" lvl="0" indent="-285750">
              <a:buSzPts val="1800"/>
              <a:buFont typeface="Arial"/>
              <a:buChar char="•"/>
            </a:pPr>
            <a:endParaRPr lang="en-US" sz="1800" dirty="0"/>
          </a:p>
          <a:p>
            <a:pPr marL="285750" lvl="0" indent="-285750">
              <a:buSzPts val="1800"/>
              <a:buFont typeface="Arial"/>
              <a:buChar char="•"/>
            </a:pPr>
            <a:r>
              <a:rPr lang="en-US" sz="1800" b="1" dirty="0"/>
              <a:t>IBM </a:t>
            </a:r>
            <a:r>
              <a:rPr lang="en-US" sz="1800" b="1" dirty="0" err="1"/>
              <a:t>Cloudant</a:t>
            </a:r>
            <a:r>
              <a:rPr lang="en-US" sz="1800" dirty="0"/>
              <a:t> – NoSQL database used to securely store user journals, mood history, conversations, and application data. </a:t>
            </a:r>
          </a:p>
          <a:p>
            <a:pPr lvl="0">
              <a:buSzPts val="1800"/>
            </a:pPr>
            <a:endParaRPr lang="en-US" sz="1800" dirty="0"/>
          </a:p>
          <a:p>
            <a:pPr marL="285750" lvl="0" indent="-285750">
              <a:buSzPts val="1800"/>
              <a:buFont typeface="Arial"/>
              <a:buChar char="•"/>
            </a:pPr>
            <a:r>
              <a:rPr lang="en-US" sz="1800" b="1" dirty="0"/>
              <a:t>Retrieval-Augmented Generation (RAG)</a:t>
            </a:r>
            <a:r>
              <a:rPr lang="en-US" sz="1800" dirty="0"/>
              <a:t> – Retrieves trusted mental health resources to generate accurate and context-aware responses.</a:t>
            </a:r>
          </a:p>
          <a:p>
            <a:pPr marL="285750" lvl="0" indent="-285750">
              <a:buSzPts val="1800"/>
              <a:buFont typeface="Arial"/>
              <a:buChar char="•"/>
            </a:pPr>
            <a:endParaRPr lang="en-US" sz="1800" dirty="0"/>
          </a:p>
          <a:p>
            <a:pPr marL="285750" lvl="0" indent="-285750">
              <a:buSzPts val="1800"/>
              <a:buFont typeface="Arial"/>
              <a:buChar char="•"/>
            </a:pPr>
            <a:r>
              <a:rPr lang="en-US" sz="1800" dirty="0"/>
              <a:t> </a:t>
            </a:r>
            <a:r>
              <a:rPr lang="en-US" sz="1800" b="1" dirty="0"/>
              <a:t>React.js + Node.js + Express.js</a:t>
            </a:r>
            <a:r>
              <a:rPr lang="en-US" sz="1800" dirty="0"/>
              <a:t> – Used to build the interactive frontend and backend APIs for the application.</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800" b="1" dirty="0"/>
              <a:t>AI Components Used</a:t>
            </a:r>
            <a:r>
              <a:rPr lang="en-US" sz="2800" b="1" i="0" u="none" strike="noStrike" cap="none" dirty="0">
                <a:solidFill>
                  <a:srgbClr val="000000"/>
                </a:solidFill>
                <a:latin typeface="Arial"/>
                <a:ea typeface="Arial"/>
                <a:cs typeface="Arial"/>
                <a:sym typeface="Arial"/>
              </a:rPr>
              <a:t>-</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indent="-342900">
              <a:buAutoNum type="arabicParenR"/>
            </a:pPr>
            <a:r>
              <a:rPr lang="en-US" b="1" dirty="0"/>
              <a:t>Chat Input</a:t>
            </a:r>
            <a:r>
              <a:rPr lang="en-US" dirty="0"/>
              <a:t> – Accepts user messages, mood updates, and journal entries.</a:t>
            </a:r>
          </a:p>
          <a:p>
            <a:pPr marL="342900" indent="-342900">
              <a:buAutoNum type="arabicParenR"/>
            </a:pPr>
            <a:endParaRPr lang="en-US" dirty="0"/>
          </a:p>
          <a:p>
            <a:r>
              <a:rPr lang="en-US" b="1" dirty="0"/>
              <a:t>2)    IBM watsonx.ai Agent</a:t>
            </a:r>
            <a:r>
              <a:rPr lang="en-US" dirty="0"/>
              <a:t> – Processes user input and generates safe, empathetic responses.</a:t>
            </a:r>
          </a:p>
          <a:p>
            <a:endParaRPr lang="en-US" dirty="0"/>
          </a:p>
          <a:p>
            <a:r>
              <a:rPr lang="en-US" b="1" dirty="0"/>
              <a:t>3)    IBM Granite Model</a:t>
            </a:r>
            <a:r>
              <a:rPr lang="en-US" dirty="0"/>
              <a:t> – </a:t>
            </a:r>
            <a:r>
              <a:rPr lang="en-US" b="1" dirty="0"/>
              <a:t>Granite-3-3-8B-Instruct</a:t>
            </a:r>
            <a:r>
              <a:rPr lang="en-US" dirty="0"/>
              <a:t> for reasoning, conversation, and mental health guidance.</a:t>
            </a:r>
          </a:p>
          <a:p>
            <a:endParaRPr lang="en-US" dirty="0"/>
          </a:p>
          <a:p>
            <a:r>
              <a:rPr lang="en-US" b="1" dirty="0"/>
              <a:t>4)    Chat Output</a:t>
            </a:r>
            <a:r>
              <a:rPr lang="en-US" dirty="0"/>
              <a:t> – Displays AI-generated responses, self-care suggestions, and wellness guidance.</a:t>
            </a:r>
          </a:p>
          <a:p>
            <a:endParaRPr lang="en-US" dirty="0"/>
          </a:p>
          <a:p>
            <a:r>
              <a:rPr lang="en-US" b="1" dirty="0"/>
              <a:t>5)   RAG Component</a:t>
            </a:r>
            <a:r>
              <a:rPr lang="en-US" dirty="0"/>
              <a:t> – Retrieves trusted mental health resources and coping strategies before generating      responses.</a:t>
            </a:r>
          </a:p>
          <a:p>
            <a:endParaRPr lang="en-US" dirty="0"/>
          </a:p>
          <a:p>
            <a:r>
              <a:rPr lang="en-US" b="1" dirty="0"/>
              <a:t>6)  </a:t>
            </a:r>
            <a:r>
              <a:rPr lang="en-US" b="1" dirty="0" err="1"/>
              <a:t>Cloudant</a:t>
            </a:r>
            <a:r>
              <a:rPr lang="en-US" b="1" dirty="0"/>
              <a:t> Storage Component</a:t>
            </a:r>
            <a:r>
              <a:rPr lang="en-US" dirty="0"/>
              <a:t> – Securely stores user journals, mood history, conversations, and application data.</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System Workflow</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E0B63DA6-56AE-36F7-AB73-9BA199D41674}"/>
              </a:ext>
            </a:extLst>
          </p:cNvPr>
          <p:cNvPicPr>
            <a:picLocks noChangeAspect="1"/>
          </p:cNvPicPr>
          <p:nvPr/>
        </p:nvPicPr>
        <p:blipFill>
          <a:blip r:embed="rId3"/>
          <a:stretch>
            <a:fillRect/>
          </a:stretch>
        </p:blipFill>
        <p:spPr>
          <a:xfrm>
            <a:off x="9119637" y="6122452"/>
            <a:ext cx="988091" cy="274883"/>
          </a:xfrm>
          <a:prstGeom prst="rect">
            <a:avLst/>
          </a:prstGeom>
        </p:spPr>
      </p:pic>
      <p:pic>
        <p:nvPicPr>
          <p:cNvPr id="7" name="Picture 6">
            <a:extLst>
              <a:ext uri="{FF2B5EF4-FFF2-40B4-BE49-F238E27FC236}">
                <a16:creationId xmlns:a16="http://schemas.microsoft.com/office/drawing/2014/main" id="{9BADA998-5718-EAEC-2BB9-5D08C27A869A}"/>
              </a:ext>
            </a:extLst>
          </p:cNvPr>
          <p:cNvPicPr>
            <a:picLocks noChangeAspect="1"/>
          </p:cNvPicPr>
          <p:nvPr/>
        </p:nvPicPr>
        <p:blipFill>
          <a:blip r:embed="rId4"/>
          <a:stretch>
            <a:fillRect/>
          </a:stretch>
        </p:blipFill>
        <p:spPr>
          <a:xfrm>
            <a:off x="1725561" y="880533"/>
            <a:ext cx="8740877" cy="57693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572798A4-38F8-3115-DF2A-F6399D7A055B}"/>
              </a:ext>
            </a:extLst>
          </p:cNvPr>
          <p:cNvPicPr>
            <a:picLocks noChangeAspect="1"/>
          </p:cNvPicPr>
          <p:nvPr/>
        </p:nvPicPr>
        <p:blipFill>
          <a:blip r:embed="rId3"/>
          <a:stretch>
            <a:fillRect/>
          </a:stretch>
        </p:blipFill>
        <p:spPr>
          <a:xfrm>
            <a:off x="1209424" y="834891"/>
            <a:ext cx="9773152" cy="51882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832052"/>
          </a:xfrm>
          <a:prstGeom prst="rect">
            <a:avLst/>
          </a:prstGeom>
          <a:noFill/>
          <a:ln>
            <a:noFill/>
          </a:ln>
        </p:spPr>
        <p:txBody>
          <a:bodyPr spcFirstLastPara="1" wrap="square" lIns="91425" tIns="45700" rIns="91425" bIns="45700" anchor="t" anchorCtr="0">
            <a:spAutoFit/>
          </a:bodyPr>
          <a:lstStyle/>
          <a:p>
            <a:r>
              <a:rPr lang="en-US" b="1" dirty="0"/>
              <a:t>Role of Agentic AI in </a:t>
            </a:r>
            <a:r>
              <a:rPr lang="en-US" b="1" dirty="0" err="1"/>
              <a:t>MindGuard</a:t>
            </a:r>
            <a:r>
              <a:rPr lang="en-US" b="1" dirty="0"/>
              <a:t> AI</a:t>
            </a:r>
          </a:p>
          <a:p>
            <a:endParaRPr lang="en-US" b="1" dirty="0"/>
          </a:p>
          <a:p>
            <a:r>
              <a:rPr lang="en-US" b="1" dirty="0"/>
              <a:t>Agentic AI</a:t>
            </a:r>
            <a:r>
              <a:rPr lang="en-US" dirty="0"/>
              <a:t> enables </a:t>
            </a:r>
            <a:r>
              <a:rPr lang="en-US" b="1" dirty="0" err="1"/>
              <a:t>MindGuard</a:t>
            </a:r>
            <a:r>
              <a:rPr lang="en-US" b="1" dirty="0"/>
              <a:t> AI</a:t>
            </a:r>
            <a:r>
              <a:rPr lang="en-US" dirty="0"/>
              <a:t> to function as an intelligent, proactive mental health assistant rather than a simple chatbot. Using </a:t>
            </a:r>
            <a:r>
              <a:rPr lang="en-US" b="1" dirty="0"/>
              <a:t>IBM watsonx.ai</a:t>
            </a:r>
            <a:r>
              <a:rPr lang="en-US" dirty="0"/>
              <a:t> and </a:t>
            </a:r>
            <a:r>
              <a:rPr lang="en-US" b="1" dirty="0"/>
              <a:t>IBM Granite models</a:t>
            </a:r>
            <a:r>
              <a:rPr lang="en-US" dirty="0"/>
              <a:t>, it coordinates multiple specialized AI agents to provide empathetic conversations, emotional support, and personalized self-care guidance.</a:t>
            </a:r>
          </a:p>
          <a:p>
            <a:endParaRPr lang="en-US" dirty="0"/>
          </a:p>
          <a:p>
            <a:r>
              <a:rPr lang="en-US" dirty="0"/>
              <a:t>Each agent performs a specific role—such as </a:t>
            </a:r>
            <a:r>
              <a:rPr lang="en-US" b="1" dirty="0"/>
              <a:t>safety classification, mood analysis, RAG-based knowledge retrieval, journaling support, and self-care recommendations</a:t>
            </a:r>
            <a:r>
              <a:rPr lang="en-US" dirty="0"/>
              <a:t>—while working collaboratively. This </a:t>
            </a:r>
            <a:r>
              <a:rPr lang="en-US" b="1" dirty="0"/>
              <a:t>multi-agent architecture</a:t>
            </a:r>
            <a:r>
              <a:rPr lang="en-US" dirty="0"/>
              <a:t> ensures accurate, context-aware, and reliable responses.</a:t>
            </a:r>
          </a:p>
          <a:p>
            <a:endParaRPr lang="en-US" dirty="0"/>
          </a:p>
          <a:p>
            <a:r>
              <a:rPr lang="en-US" dirty="0"/>
              <a:t>Agentic AI also provides </a:t>
            </a:r>
            <a:r>
              <a:rPr lang="en-US" b="1" dirty="0"/>
              <a:t>context awareness</a:t>
            </a:r>
            <a:r>
              <a:rPr lang="en-US" dirty="0"/>
              <a:t>, understanding users' mood history, journal entries, and conversation context to generate personalized recommendations. It supports </a:t>
            </a:r>
            <a:r>
              <a:rPr lang="en-US" b="1" dirty="0"/>
              <a:t>real-time adaptation</a:t>
            </a:r>
            <a:r>
              <a:rPr lang="en-US" dirty="0"/>
              <a:t>, continuously adjusting responses based on the user's emotional state and interactions.</a:t>
            </a:r>
          </a:p>
          <a:p>
            <a:endParaRPr lang="en-US" dirty="0"/>
          </a:p>
          <a:p>
            <a:r>
              <a:rPr lang="en-US" dirty="0"/>
              <a:t>Additionally, the agents communicate with each other to improve decision-making, detect high-risk situations, and provide timely crisis support when required.</a:t>
            </a:r>
          </a:p>
          <a:p>
            <a:r>
              <a:rPr lang="en-US" dirty="0"/>
              <a:t>Overall, </a:t>
            </a:r>
            <a:r>
              <a:rPr lang="en-US" b="1" dirty="0"/>
              <a:t>Agentic AI</a:t>
            </a:r>
            <a:r>
              <a:rPr lang="en-US" dirty="0"/>
              <a:t> makes </a:t>
            </a:r>
            <a:r>
              <a:rPr lang="en-US" b="1" dirty="0" err="1"/>
              <a:t>MindGuard</a:t>
            </a:r>
            <a:r>
              <a:rPr lang="en-US" b="1" dirty="0"/>
              <a:t> AI</a:t>
            </a:r>
            <a:r>
              <a:rPr lang="en-US" dirty="0"/>
              <a:t> proactive, empathetic, personalized, and safety-focused, helping users improve their mental well-being through intelligent assistance and early intervention.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11,761 token are used</a:t>
            </a:r>
            <a:endParaRPr/>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3" name="Picture 2">
            <a:extLst>
              <a:ext uri="{FF2B5EF4-FFF2-40B4-BE49-F238E27FC236}">
                <a16:creationId xmlns:a16="http://schemas.microsoft.com/office/drawing/2014/main" id="{18F6C50D-4221-F6F0-4996-7A1AB91ADE06}"/>
              </a:ext>
            </a:extLst>
          </p:cNvPr>
          <p:cNvPicPr>
            <a:picLocks noChangeAspect="1"/>
          </p:cNvPicPr>
          <p:nvPr/>
        </p:nvPicPr>
        <p:blipFill>
          <a:blip r:embed="rId3"/>
          <a:stretch>
            <a:fillRect/>
          </a:stretch>
        </p:blipFill>
        <p:spPr>
          <a:xfrm>
            <a:off x="592339" y="2587065"/>
            <a:ext cx="4598287" cy="2312350"/>
          </a:xfrm>
          <a:prstGeom prst="rect">
            <a:avLst/>
          </a:prstGeom>
        </p:spPr>
      </p:pic>
      <p:pic>
        <p:nvPicPr>
          <p:cNvPr id="5" name="Picture 4">
            <a:extLst>
              <a:ext uri="{FF2B5EF4-FFF2-40B4-BE49-F238E27FC236}">
                <a16:creationId xmlns:a16="http://schemas.microsoft.com/office/drawing/2014/main" id="{A55248A9-C8D3-9286-57BE-3C7A50F4BF03}"/>
              </a:ext>
            </a:extLst>
          </p:cNvPr>
          <p:cNvPicPr>
            <a:picLocks noChangeAspect="1"/>
          </p:cNvPicPr>
          <p:nvPr/>
        </p:nvPicPr>
        <p:blipFill>
          <a:blip r:embed="rId4"/>
          <a:stretch>
            <a:fillRect/>
          </a:stretch>
        </p:blipFill>
        <p:spPr>
          <a:xfrm>
            <a:off x="6384452" y="2462536"/>
            <a:ext cx="5060084" cy="23527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16"/>
          </a:xfrm>
          <a:prstGeom prst="rect">
            <a:avLst/>
          </a:prstGeom>
          <a:noFill/>
          <a:ln>
            <a:noFill/>
          </a:ln>
        </p:spPr>
        <p:txBody>
          <a:bodyPr spcFirstLastPara="1" wrap="square" lIns="91425" tIns="45700" rIns="91425" bIns="45700" anchor="t" anchorCtr="0">
            <a:spAutoFit/>
          </a:bodyPr>
          <a:lstStyle/>
          <a:p>
            <a:r>
              <a:rPr lang="en-US" sz="1800" b="1" dirty="0"/>
              <a:t>Key Features / Unique Selling Points (USP) of </a:t>
            </a:r>
            <a:r>
              <a:rPr lang="en-US" sz="1800" b="1" dirty="0" err="1"/>
              <a:t>MindGuard</a:t>
            </a:r>
            <a:r>
              <a:rPr lang="en-US" sz="1800" b="1" dirty="0"/>
              <a:t> AI</a:t>
            </a:r>
          </a:p>
          <a:p>
            <a:r>
              <a:rPr lang="en-US" sz="1800" dirty="0"/>
              <a:t>The proposed </a:t>
            </a:r>
            <a:r>
              <a:rPr lang="en-US" sz="1800" b="1" dirty="0" err="1"/>
              <a:t>MindGuard</a:t>
            </a:r>
            <a:r>
              <a:rPr lang="en-US" sz="1800" b="1" dirty="0"/>
              <a:t> AI</a:t>
            </a:r>
            <a:r>
              <a:rPr lang="en-US" sz="1800" dirty="0"/>
              <a:t> stands out by combining </a:t>
            </a:r>
            <a:r>
              <a:rPr lang="en-US" sz="1800" b="1" dirty="0"/>
              <a:t>Agentic AI, RAG, and personalized mental health support</a:t>
            </a:r>
            <a:r>
              <a:rPr lang="en-US" sz="1800" dirty="0"/>
              <a:t> into one intelligent system.</a:t>
            </a:r>
          </a:p>
          <a:p>
            <a:r>
              <a:rPr lang="en-US" sz="1800" b="1" dirty="0"/>
              <a:t>Multi-Agent Intelligence</a:t>
            </a:r>
            <a:r>
              <a:rPr lang="en-US" sz="1800" dirty="0"/>
              <a:t> – Multiple AI agents collaborate to provide safe, empathetic, and context-aware mental health assistance. </a:t>
            </a:r>
          </a:p>
          <a:p>
            <a:r>
              <a:rPr lang="en-US" sz="1800" b="1" dirty="0"/>
              <a:t>RAG-Based Knowledge Retrieval</a:t>
            </a:r>
            <a:r>
              <a:rPr lang="en-US" sz="1800" dirty="0"/>
              <a:t> – Retrieves trusted mental health information to reduce misinformation and improve response quality. </a:t>
            </a:r>
          </a:p>
          <a:p>
            <a:r>
              <a:rPr lang="en-US" sz="1800" b="1" dirty="0"/>
              <a:t>Personalized Emotional Support</a:t>
            </a:r>
            <a:r>
              <a:rPr lang="en-US" sz="1800" dirty="0"/>
              <a:t> – Delivers recommendations based on mood history, journal entries, and conversation context. </a:t>
            </a:r>
          </a:p>
          <a:p>
            <a:r>
              <a:rPr lang="en-US" sz="1800" b="1" dirty="0"/>
              <a:t>Real-Time Risk Detection</a:t>
            </a:r>
            <a:r>
              <a:rPr lang="en-US" sz="1800" dirty="0"/>
              <a:t> – Continuously analyzes user interactions to detect emotional distress or high-risk situations. </a:t>
            </a:r>
          </a:p>
          <a:p>
            <a:r>
              <a:rPr lang="en-US" sz="1800" b="1" dirty="0"/>
              <a:t>Integrated Wellness Features</a:t>
            </a:r>
            <a:r>
              <a:rPr lang="en-US" sz="1800" dirty="0"/>
              <a:t> – Combines AI Chat, Mood Tracking, Journaling, Self-Care Exercises, and Emergency SOS in one platform. </a:t>
            </a:r>
          </a:p>
          <a:p>
            <a:r>
              <a:rPr lang="en-US" sz="1800" b="1" dirty="0"/>
              <a:t>Safety-First Design</a:t>
            </a:r>
            <a:r>
              <a:rPr lang="en-US" sz="1800" dirty="0"/>
              <a:t> – Uses AI safety classification to provide responsible responses and crisis guidance. </a:t>
            </a:r>
          </a:p>
          <a:p>
            <a:r>
              <a:rPr lang="en-US" sz="1800" b="1" dirty="0"/>
              <a:t>Scalable &amp; Enterprise-Ready</a:t>
            </a:r>
            <a:r>
              <a:rPr lang="en-US" sz="1800" dirty="0"/>
              <a:t> – Built using </a:t>
            </a:r>
            <a:r>
              <a:rPr lang="en-US" sz="1800" b="1" dirty="0"/>
              <a:t>IBM watsonx.ai</a:t>
            </a:r>
            <a:r>
              <a:rPr lang="en-US" sz="1800" dirty="0"/>
              <a:t>, </a:t>
            </a:r>
            <a:r>
              <a:rPr lang="en-US" sz="1800" b="1" dirty="0"/>
              <a:t>Granite Models</a:t>
            </a:r>
            <a:r>
              <a:rPr lang="en-US" sz="1800" dirty="0"/>
              <a:t>, </a:t>
            </a:r>
            <a:r>
              <a:rPr lang="en-US" sz="1800" b="1" dirty="0" err="1"/>
              <a:t>Cloudant</a:t>
            </a:r>
            <a:r>
              <a:rPr lang="en-US" sz="1800" dirty="0"/>
              <a:t>, and </a:t>
            </a:r>
            <a:r>
              <a:rPr lang="en-US" sz="1800" b="1" dirty="0"/>
              <a:t>RAG</a:t>
            </a:r>
            <a:r>
              <a:rPr lang="en-US" sz="1800" dirty="0"/>
              <a:t> for secure and reliable deployment. </a:t>
            </a:r>
          </a:p>
          <a:p>
            <a:r>
              <a:rPr lang="en-US" sz="1800" b="1" dirty="0"/>
              <a:t>This makes </a:t>
            </a:r>
            <a:r>
              <a:rPr lang="en-US" sz="1800" b="1" dirty="0" err="1"/>
              <a:t>MindGuard</a:t>
            </a:r>
            <a:r>
              <a:rPr lang="en-US" sz="1800" b="1" dirty="0"/>
              <a:t> AI a proactive, empathetic, and intelligent mental health companion rather than just a simple chatbot.</a:t>
            </a:r>
            <a:endParaRPr lang="en-US" sz="18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https://github.com/codecrafter34/MindGuard.git</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1. Wearable &amp; Health Device Integration –</a:t>
            </a:r>
          </a:p>
          <a:p>
            <a:r>
              <a:rPr lang="en-US" sz="2000" dirty="0"/>
              <a:t>Integrate with smartwatches and fitness bands to monitor heart rate, sleep, stress levels, and activity. This will enable real-time mental wellness insights and personalized self-care recommendations.</a:t>
            </a:r>
          </a:p>
          <a:p>
            <a:r>
              <a:rPr lang="en-US" sz="2000" b="1" dirty="0"/>
              <a:t>2. Voice Assistant &amp; Multilingual Support –</a:t>
            </a:r>
          </a:p>
          <a:p>
            <a:r>
              <a:rPr lang="en-US" sz="2000" dirty="0"/>
              <a:t>Add voice-based interaction and support multiple regional languages to make the platform more accessible and user-friendly for people from diverse backgrounds.</a:t>
            </a:r>
          </a:p>
          <a:p>
            <a:r>
              <a:rPr lang="en-US" sz="2000" b="1" dirty="0"/>
              <a:t>3. Professional Counselor Integration –</a:t>
            </a:r>
          </a:p>
          <a:p>
            <a:r>
              <a:rPr lang="en-US" sz="2000" dirty="0"/>
              <a:t>Enable secure connections with licensed psychologists, therapists, and emergency helplines for timely intervention and continuous mental health support.</a:t>
            </a:r>
          </a:p>
          <a:p>
            <a:r>
              <a:rPr lang="en-US" sz="2000" b="1" dirty="0"/>
              <a:t>4. Mobile App &amp; Smart Notifications –</a:t>
            </a:r>
          </a:p>
          <a:p>
            <a:r>
              <a:rPr lang="en-US" sz="2000" dirty="0"/>
              <a:t>Develop Android/iOS applications with personalized reminders for mood tracking, journaling, breathing exercises, and medication or therapy schedules.</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Please  add your </a:t>
            </a:r>
            <a:r>
              <a:rPr lang="en-US" sz="2800" b="1" i="0" u="none" strike="noStrike" cap="none" dirty="0" err="1">
                <a:solidFill>
                  <a:srgbClr val="000000"/>
                </a:solidFill>
                <a:latin typeface="Arial"/>
                <a:ea typeface="Arial"/>
                <a:cs typeface="Arial"/>
                <a:sym typeface="Arial"/>
              </a:rPr>
              <a:t>credly</a:t>
            </a:r>
            <a:r>
              <a:rPr lang="en-US" sz="2800" b="1" i="0" u="none" strike="noStrike" cap="none" dirty="0">
                <a:solidFill>
                  <a:srgbClr val="000000"/>
                </a:solidFill>
                <a:latin typeface="Arial"/>
                <a:ea typeface="Arial"/>
                <a:cs typeface="Arial"/>
                <a:sym typeface="Arial"/>
              </a:rPr>
              <a:t> certificate</a:t>
            </a:r>
          </a:p>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 </a:t>
            </a:r>
            <a:endParaRPr dirty="0"/>
          </a:p>
        </p:txBody>
      </p:sp>
      <p:pic>
        <p:nvPicPr>
          <p:cNvPr id="3" name="Picture 2">
            <a:extLst>
              <a:ext uri="{FF2B5EF4-FFF2-40B4-BE49-F238E27FC236}">
                <a16:creationId xmlns:a16="http://schemas.microsoft.com/office/drawing/2014/main" id="{90C87B61-19F6-D1F2-37F4-E79A102ECA82}"/>
              </a:ext>
            </a:extLst>
          </p:cNvPr>
          <p:cNvPicPr>
            <a:picLocks noChangeAspect="1"/>
          </p:cNvPicPr>
          <p:nvPr/>
        </p:nvPicPr>
        <p:blipFill>
          <a:blip r:embed="rId3"/>
          <a:stretch>
            <a:fillRect/>
          </a:stretch>
        </p:blipFill>
        <p:spPr>
          <a:xfrm>
            <a:off x="1636776" y="1367169"/>
            <a:ext cx="6993086" cy="52099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8C0E-4C91-1E67-95C1-55B295267CDA}"/>
              </a:ext>
            </a:extLst>
          </p:cNvPr>
          <p:cNvSpPr>
            <a:spLocks noGrp="1"/>
          </p:cNvSpPr>
          <p:nvPr>
            <p:ph type="title"/>
          </p:nvPr>
        </p:nvSpPr>
        <p:spPr/>
        <p:txBody>
          <a:bodyPr/>
          <a:lstStyle/>
          <a:p>
            <a:r>
              <a:rPr lang="en-US" dirty="0"/>
              <a:t>  </a:t>
            </a:r>
          </a:p>
        </p:txBody>
      </p:sp>
      <p:sp>
        <p:nvSpPr>
          <p:cNvPr id="3" name="Text Placeholder 2">
            <a:extLst>
              <a:ext uri="{FF2B5EF4-FFF2-40B4-BE49-F238E27FC236}">
                <a16:creationId xmlns:a16="http://schemas.microsoft.com/office/drawing/2014/main" id="{9E3C1F41-6346-0584-7FE2-3607D072D2EB}"/>
              </a:ext>
            </a:extLst>
          </p:cNvPr>
          <p:cNvSpPr>
            <a:spLocks noGrp="1"/>
          </p:cNvSpPr>
          <p:nvPr>
            <p:ph type="body" idx="1"/>
          </p:nvPr>
        </p:nvSpPr>
        <p:spPr>
          <a:xfrm>
            <a:off x="530352" y="155448"/>
            <a:ext cx="10823448" cy="6021515"/>
          </a:xfrm>
        </p:spPr>
        <p:txBody>
          <a:bodyPr/>
          <a:lstStyle/>
          <a:p>
            <a:pPr marL="114300" indent="0">
              <a:buNone/>
            </a:pPr>
            <a:r>
              <a:rPr lang="en-US" dirty="0"/>
              <a:t>                                      </a:t>
            </a:r>
          </a:p>
        </p:txBody>
      </p:sp>
      <p:pic>
        <p:nvPicPr>
          <p:cNvPr id="7" name="Picture 6">
            <a:extLst>
              <a:ext uri="{FF2B5EF4-FFF2-40B4-BE49-F238E27FC236}">
                <a16:creationId xmlns:a16="http://schemas.microsoft.com/office/drawing/2014/main" id="{3D25724D-CACC-B887-2D99-9439021C1D3F}"/>
              </a:ext>
            </a:extLst>
          </p:cNvPr>
          <p:cNvPicPr>
            <a:picLocks noChangeAspect="1"/>
          </p:cNvPicPr>
          <p:nvPr/>
        </p:nvPicPr>
        <p:blipFill>
          <a:blip r:embed="rId2"/>
          <a:stretch>
            <a:fillRect/>
          </a:stretch>
        </p:blipFill>
        <p:spPr>
          <a:xfrm>
            <a:off x="1838106" y="806315"/>
            <a:ext cx="8515788" cy="5245370"/>
          </a:xfrm>
          <a:prstGeom prst="rect">
            <a:avLst/>
          </a:prstGeom>
        </p:spPr>
      </p:pic>
    </p:spTree>
    <p:extLst>
      <p:ext uri="{BB962C8B-B14F-4D97-AF65-F5344CB8AC3E}">
        <p14:creationId xmlns:p14="http://schemas.microsoft.com/office/powerpoint/2010/main" val="2359940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110A-63D0-3FE8-4C23-33D28612A0BF}"/>
              </a:ext>
            </a:extLst>
          </p:cNvPr>
          <p:cNvSpPr>
            <a:spLocks noGrp="1"/>
          </p:cNvSpPr>
          <p:nvPr>
            <p:ph type="title"/>
          </p:nvPr>
        </p:nvSpPr>
        <p:spPr/>
        <p:txBody>
          <a:bodyPr/>
          <a:lstStyle/>
          <a:p>
            <a:r>
              <a:rPr lang="en-US" dirty="0"/>
              <a:t>                           </a:t>
            </a:r>
            <a:br>
              <a:rPr lang="en-US" dirty="0"/>
            </a:br>
            <a:endParaRPr lang="en-US" dirty="0"/>
          </a:p>
        </p:txBody>
      </p:sp>
      <p:sp>
        <p:nvSpPr>
          <p:cNvPr id="3" name="Text Placeholder 2">
            <a:extLst>
              <a:ext uri="{FF2B5EF4-FFF2-40B4-BE49-F238E27FC236}">
                <a16:creationId xmlns:a16="http://schemas.microsoft.com/office/drawing/2014/main" id="{1B123443-11B7-D3CB-1C59-F5B2C42953EB}"/>
              </a:ext>
            </a:extLst>
          </p:cNvPr>
          <p:cNvSpPr>
            <a:spLocks noGrp="1"/>
          </p:cNvSpPr>
          <p:nvPr>
            <p:ph type="body" idx="1"/>
          </p:nvPr>
        </p:nvSpPr>
        <p:spPr>
          <a:xfrm>
            <a:off x="838200" y="4526279"/>
            <a:ext cx="1749552" cy="1650683"/>
          </a:xfrm>
        </p:spPr>
        <p:txBody>
          <a:bodyPr/>
          <a:lstStyle/>
          <a:p>
            <a:pPr marL="114300" indent="0">
              <a:buNone/>
            </a:pPr>
            <a:r>
              <a:rPr lang="en-US" dirty="0"/>
              <a:t>                        </a:t>
            </a:r>
            <a:br>
              <a:rPr lang="en-US" dirty="0"/>
            </a:br>
            <a:endParaRPr lang="en-US" dirty="0"/>
          </a:p>
        </p:txBody>
      </p:sp>
      <p:pic>
        <p:nvPicPr>
          <p:cNvPr id="5" name="Picture 4">
            <a:extLst>
              <a:ext uri="{FF2B5EF4-FFF2-40B4-BE49-F238E27FC236}">
                <a16:creationId xmlns:a16="http://schemas.microsoft.com/office/drawing/2014/main" id="{71EF168B-6A11-730F-4A18-C2ECFF357D9E}"/>
              </a:ext>
            </a:extLst>
          </p:cNvPr>
          <p:cNvPicPr>
            <a:picLocks noChangeAspect="1"/>
          </p:cNvPicPr>
          <p:nvPr/>
        </p:nvPicPr>
        <p:blipFill>
          <a:blip r:embed="rId2"/>
          <a:stretch>
            <a:fillRect/>
          </a:stretch>
        </p:blipFill>
        <p:spPr>
          <a:xfrm>
            <a:off x="2225476" y="1034927"/>
            <a:ext cx="7741048" cy="4788146"/>
          </a:xfrm>
          <a:prstGeom prst="rect">
            <a:avLst/>
          </a:prstGeom>
        </p:spPr>
      </p:pic>
    </p:spTree>
    <p:extLst>
      <p:ext uri="{BB962C8B-B14F-4D97-AF65-F5344CB8AC3E}">
        <p14:creationId xmlns:p14="http://schemas.microsoft.com/office/powerpoint/2010/main" val="678517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6274B-8D2E-7A83-ED2F-1A6CBD274640}"/>
              </a:ext>
            </a:extLst>
          </p:cNvPr>
          <p:cNvSpPr>
            <a:spLocks noGrp="1"/>
          </p:cNvSpPr>
          <p:nvPr>
            <p:ph type="title"/>
          </p:nvPr>
        </p:nvSpPr>
        <p:spPr/>
        <p:txBody>
          <a:bodyPr/>
          <a:lstStyle/>
          <a:p>
            <a:r>
              <a:rPr lang="en-US" dirty="0"/>
              <a:t>            </a:t>
            </a:r>
          </a:p>
        </p:txBody>
      </p:sp>
      <p:sp>
        <p:nvSpPr>
          <p:cNvPr id="3" name="Text Placeholder 2">
            <a:extLst>
              <a:ext uri="{FF2B5EF4-FFF2-40B4-BE49-F238E27FC236}">
                <a16:creationId xmlns:a16="http://schemas.microsoft.com/office/drawing/2014/main" id="{6ACD08FE-98D3-DBE1-7277-729CC1A0F063}"/>
              </a:ext>
            </a:extLst>
          </p:cNvPr>
          <p:cNvSpPr>
            <a:spLocks noGrp="1"/>
          </p:cNvSpPr>
          <p:nvPr>
            <p:ph type="body" idx="1"/>
          </p:nvPr>
        </p:nvSpPr>
        <p:spPr>
          <a:xfrm>
            <a:off x="838200" y="5010911"/>
            <a:ext cx="908304" cy="1166051"/>
          </a:xfrm>
        </p:spPr>
        <p:txBody>
          <a:bodyPr/>
          <a:lstStyle/>
          <a:p>
            <a:pPr marL="114300" indent="0">
              <a:buNone/>
            </a:pPr>
            <a:r>
              <a:rPr lang="en-US" dirty="0"/>
              <a:t> </a:t>
            </a:r>
          </a:p>
        </p:txBody>
      </p:sp>
      <p:pic>
        <p:nvPicPr>
          <p:cNvPr id="5" name="Picture 4">
            <a:extLst>
              <a:ext uri="{FF2B5EF4-FFF2-40B4-BE49-F238E27FC236}">
                <a16:creationId xmlns:a16="http://schemas.microsoft.com/office/drawing/2014/main" id="{60977666-3BAE-E80A-4923-4AC09F9667CD}"/>
              </a:ext>
            </a:extLst>
          </p:cNvPr>
          <p:cNvPicPr>
            <a:picLocks noChangeAspect="1"/>
          </p:cNvPicPr>
          <p:nvPr/>
        </p:nvPicPr>
        <p:blipFill>
          <a:blip r:embed="rId2"/>
          <a:stretch>
            <a:fillRect/>
          </a:stretch>
        </p:blipFill>
        <p:spPr>
          <a:xfrm>
            <a:off x="1987339" y="339566"/>
            <a:ext cx="8217322" cy="6178868"/>
          </a:xfrm>
          <a:prstGeom prst="rect">
            <a:avLst/>
          </a:prstGeom>
        </p:spPr>
      </p:pic>
    </p:spTree>
    <p:extLst>
      <p:ext uri="{BB962C8B-B14F-4D97-AF65-F5344CB8AC3E}">
        <p14:creationId xmlns:p14="http://schemas.microsoft.com/office/powerpoint/2010/main" val="3220914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B8C7-2422-6231-228A-9B2A9B22BA45}"/>
              </a:ext>
            </a:extLst>
          </p:cNvPr>
          <p:cNvSpPr>
            <a:spLocks noGrp="1"/>
          </p:cNvSpPr>
          <p:nvPr>
            <p:ph type="title"/>
          </p:nvPr>
        </p:nvSpPr>
        <p:spPr/>
        <p:txBody>
          <a:bodyPr/>
          <a:lstStyle/>
          <a:p>
            <a:r>
              <a:rPr lang="en-US" dirty="0"/>
              <a:t>            </a:t>
            </a:r>
          </a:p>
        </p:txBody>
      </p:sp>
      <p:sp>
        <p:nvSpPr>
          <p:cNvPr id="3" name="Text Placeholder 2">
            <a:extLst>
              <a:ext uri="{FF2B5EF4-FFF2-40B4-BE49-F238E27FC236}">
                <a16:creationId xmlns:a16="http://schemas.microsoft.com/office/drawing/2014/main" id="{90C070ED-8BB7-EF15-BA86-B9241126B143}"/>
              </a:ext>
            </a:extLst>
          </p:cNvPr>
          <p:cNvSpPr>
            <a:spLocks noGrp="1"/>
          </p:cNvSpPr>
          <p:nvPr>
            <p:ph type="body" idx="1"/>
          </p:nvPr>
        </p:nvSpPr>
        <p:spPr>
          <a:xfrm>
            <a:off x="9235440" y="4443983"/>
            <a:ext cx="2118360" cy="1732979"/>
          </a:xfrm>
        </p:spPr>
        <p:txBody>
          <a:bodyPr/>
          <a:lstStyle/>
          <a:p>
            <a:pPr marL="114300" indent="0">
              <a:buNone/>
            </a:pPr>
            <a:r>
              <a:rPr lang="en-US" dirty="0"/>
              <a:t>               </a:t>
            </a:r>
          </a:p>
        </p:txBody>
      </p:sp>
      <p:pic>
        <p:nvPicPr>
          <p:cNvPr id="5" name="Picture 4">
            <a:extLst>
              <a:ext uri="{FF2B5EF4-FFF2-40B4-BE49-F238E27FC236}">
                <a16:creationId xmlns:a16="http://schemas.microsoft.com/office/drawing/2014/main" id="{AE813B72-50E4-630C-C61E-C8A111D68F38}"/>
              </a:ext>
            </a:extLst>
          </p:cNvPr>
          <p:cNvPicPr>
            <a:picLocks noChangeAspect="1"/>
          </p:cNvPicPr>
          <p:nvPr/>
        </p:nvPicPr>
        <p:blipFill>
          <a:blip r:embed="rId2"/>
          <a:stretch>
            <a:fillRect/>
          </a:stretch>
        </p:blipFill>
        <p:spPr>
          <a:xfrm>
            <a:off x="1426464" y="567521"/>
            <a:ext cx="8540060" cy="5233326"/>
          </a:xfrm>
          <a:prstGeom prst="rect">
            <a:avLst/>
          </a:prstGeom>
        </p:spPr>
      </p:pic>
    </p:spTree>
    <p:extLst>
      <p:ext uri="{BB962C8B-B14F-4D97-AF65-F5344CB8AC3E}">
        <p14:creationId xmlns:p14="http://schemas.microsoft.com/office/powerpoint/2010/main" val="243848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0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37F9D900-A2EB-7462-B1DD-89DB916144AD}"/>
              </a:ext>
            </a:extLst>
          </p:cNvPr>
          <p:cNvPicPr>
            <a:picLocks noChangeAspect="1"/>
          </p:cNvPicPr>
          <p:nvPr/>
        </p:nvPicPr>
        <p:blipFill>
          <a:blip r:embed="rId3"/>
          <a:stretch>
            <a:fillRect/>
          </a:stretch>
        </p:blipFill>
        <p:spPr>
          <a:xfrm>
            <a:off x="3035808" y="1523597"/>
            <a:ext cx="6930716" cy="43153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1427</Words>
  <Application>Microsoft Office PowerPoint</Application>
  <PresentationFormat>Widescreen</PresentationFormat>
  <Paragraphs>143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Saksham Gupta</cp:lastModifiedBy>
  <cp:revision>1</cp:revision>
  <dcterms:created xsi:type="dcterms:W3CDTF">2025-07-08T05:06:56Z</dcterms:created>
  <dcterms:modified xsi:type="dcterms:W3CDTF">2026-07-13T14:13:37Z</dcterms:modified>
</cp:coreProperties>
</file>